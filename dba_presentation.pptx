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6D28D9">
              <a:alpha val="35000"/>
            </a:srgbClr>
          </a:solidFill>
          <a:ln w="12700">
            <a:solidFill>
              <a:srgbClr val="6D28D9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-914400"/>
            <a:ext cx="1645920" cy="16459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1234440"/>
            <a:ext cx="3108960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MÉTIER &amp; TECHNOLOGIES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 de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Suong NGUYEN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1B4B"/>
                </a:solidFill>
              </a:rPr>
              <a:t>💬  À TOI DE RÉPONDRE !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-640080" y="3566160"/>
            <a:ext cx="2286000" cy="2286000"/>
          </a:xfrm>
          <a:prstGeom prst="ellipse">
            <a:avLst/>
          </a:prstGeom>
          <a:solidFill>
            <a:srgbClr val="6D28D9">
              <a:alpha val="30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-548640"/>
            <a:ext cx="2103120" cy="2103120"/>
          </a:xfrm>
          <a:prstGeom prst="ellipse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777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🤔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À ton avis, que signifient les 3 lettres « DBA » 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140817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108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💡 Pistes pour t'aider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41985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▸  C'est un métier de l'informatique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7673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▸  Le « D » et le « B » parlent de là où on range des informations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4114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▸  Le « A » désigne la personne qui s'en occupe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560320" cy="2560320"/>
          </a:xfrm>
          <a:prstGeom prst="ellipse">
            <a:avLst/>
          </a:prstGeom>
          <a:solidFill>
            <a:srgbClr val="6D28D9">
              <a:alpha val="32000"/>
            </a:srgbClr>
          </a:solidFill>
          <a:ln w="12700">
            <a:solidFill>
              <a:srgbClr val="6D28D9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🎉  La réponse 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17320" y="1051560"/>
            <a:ext cx="1005840" cy="10058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732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Data(base)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054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Base de données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051560"/>
            <a:ext cx="1005840" cy="10058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5054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L'endroit où sont rangées les données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1051560"/>
            <a:ext cx="1005840" cy="10058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Administrator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5054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La personne qui administre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3291840"/>
            <a:ext cx="694944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2918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DBA = Administrateur de Bases de Données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B5FD"/>
                </a:solidFill>
              </a:rPr>
              <a:t>Mais qu'est-ce que ça veut dire concrètement ? C'est ce qu'on va découvrir ensemble ! 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suis-je ? 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21031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👩‍💻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834640" y="960120"/>
            <a:ext cx="5943600" cy="96012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07792" y="96012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749040" y="1051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DBA — Administratrice de Bases de Données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3990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Je veille chaque jour sur les bases de données : disponibilité, sécurité, performance.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039112"/>
            <a:ext cx="5943600" cy="960120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2039112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0" y="2130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Membre de la squad SGBD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47802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Je travaille en équipe dans la squad SGBD (Système de Gestion de Bases de Données).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3118104"/>
            <a:ext cx="5943600" cy="96012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07792" y="3118104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49040" y="32095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2777"/>
                </a:solidFill>
              </a:rPr>
              <a:t>Casquette Automatisation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55701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Ma spécialité : automatiser les tâches répétitives pour gagner du temps et éviter les erreurs.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321040" cy="56692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519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🎯  Aujourd'hui, je vais te faire découvrir mon métier et pourquoi l'automatisation est devenue indispensable !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Aujourd'hui 🗺️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291840"/>
          </a:xfrm>
          <a:prstGeom prst="rect">
            <a:avLst/>
          </a:prstGeom>
          <a:solidFill>
            <a:srgbClr val="EDE9FE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143000"/>
            <a:ext cx="1005840" cy="10058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1143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</a:rPr>
              <a:t>Découverte du métier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Les données, les bases de données, SQL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Le métier de DBA et ses missions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L'automatisation et l'industrialisation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Des questions interactives tout au long ! 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3291840"/>
          </a:xfrm>
          <a:prstGeom prst="rect">
            <a:avLst/>
          </a:prstGeom>
          <a:solidFill>
            <a:srgbClr val="FCE7F3"/>
          </a:solidFill>
          <a:ln w="2540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143000"/>
            <a:ext cx="1005840" cy="10058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43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2777"/>
                </a:solidFill>
              </a:rPr>
              <a:t>Jeu de simulation 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Mets-toi dans la peau d'une DBA !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Gère tes bases de données au quotidien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Découvre la magie de l'automatisation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1B4B"/>
                </a:solidFill>
              </a:rPr>
              <a:t>▸  À toi de jouer ! 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75320" cy="4572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🙋  N'hésite pas à poser des questions à tout moment — c'est fait pour ça 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une Donnée 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412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Une donnée = une information brute, enregistrée et utilisable par un ordinateur.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228600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Données numériques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 : 17/20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Prix : 12,50 €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Âge : 16 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22860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4612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Données textuelles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257860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 : Alice Dupont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Ville : Paris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: alice@...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🗓️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Données temporelles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257860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: 11/06/2025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Heure : 08h30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Durée : 2h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023360" cy="6858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🌍  2,5 milliards de Go de données sont créées chaque jour dans le monde 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931920"/>
            <a:ext cx="41148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931920"/>
            <a:ext cx="3895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📱  Chaque like, achat, connexion, message = des données stockées quelque part.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1B4B"/>
                </a:solidFill>
              </a:rPr>
              <a:t>💬  À TOI DE RÉPONDRE !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-640080" y="3566160"/>
            <a:ext cx="2286000" cy="2286000"/>
          </a:xfrm>
          <a:prstGeom prst="ellipse">
            <a:avLst/>
          </a:prstGeom>
          <a:solidFill>
            <a:srgbClr val="6D28D9">
              <a:alpha val="30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-548640"/>
            <a:ext cx="2103120" cy="2103120"/>
          </a:xfrm>
          <a:prstGeom prst="ellipse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777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🤔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Quelles données génères-tu dans ta vie quotidienne 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140817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108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💡 Pistes pour t'aider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41985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▸  Pense à ton téléphone : que fais-tu chaque jour avec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7673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▸  Quand tu achètes quelque chose, qu'est-ce qui est enregistré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4114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▸  Et au lycée : quelles informations l'école garde-t-elle sur toi 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une Base de Données 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Une BDD = un endroit organisé pour stocker, retrouver et manipuler des données très rapidement.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5029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804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98448" y="15453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</a:rPr>
              <a:t>Un conteneur organisé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98448" y="18836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Les données sont rangées en tableaux (tables) avec des lignes et colonnes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14016"/>
            <a:ext cx="5029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14016"/>
            <a:ext cx="804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98448" y="24780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</a:rPr>
              <a:t>Des tables liées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98448" y="28163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Les tables se parlent entre elles : un élève a plusieurs notes, plusieurs cours...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5029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46704"/>
            <a:ext cx="804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98448" y="34107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</a:rPr>
              <a:t>Recherche ultra-rapide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98448" y="3749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Retrouver 1 info parmi 10 millions en moins d'1 milliseconde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481328"/>
            <a:ext cx="2971800" cy="2779776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1572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Table : Élèves 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901952"/>
            <a:ext cx="278892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901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Nom         Classe  Note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2176272"/>
            <a:ext cx="2788920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1762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Alice       2nde A  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2432304"/>
            <a:ext cx="2788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Bob       2nde B  14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2688336"/>
            <a:ext cx="2788920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68833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Clara       2nde A  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944368"/>
            <a:ext cx="2788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9443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David       2nde C  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3246120"/>
            <a:ext cx="278892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2461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MySQL · 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Oracle · SQL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</a:rPr>
              <a:t>MongoDB · Redis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07408"/>
            <a:ext cx="50292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074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📱  Facebook : 100 milliards de requêtes SQL par jour sur ses BDD 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de Bases de Données (SGBD)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Le moteur (SGBD) = le logiciel qui fait vivre la base de données : il stocke, lit, écrit et protège les données.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114800" cy="1554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🚗  Métaphore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La base de données, c'est la voiture entière. Le moteur (SGBD), c'est ce qui la fait avancer : sans lui, les données sont juste des fichiers immobiles sur un disque.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4114800" cy="1691640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291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</a:rPr>
              <a:t>🍕  Les distributions, c'est comme la pizza !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Une recette de base (la pâte = PostgreSQL), et chacun ajoute sa garniture : plus de sécurité, du support 24/7, une version cloud... Même cœur, saveurs différentes 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069080" cy="3355848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45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🐘  Les distributions PostgreSQL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029968"/>
            <a:ext cx="379476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0665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PostgreSQL Community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La version originale, gratuite et open-source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3794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6334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EDB Postgres Advanced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56048" y="287121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Version entreprise : sécurité et support renforcés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163824"/>
            <a:ext cx="379476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2004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Amazon Aurora / 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6048" y="34381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Version cloud gérée par Amazon (AWS)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730752"/>
            <a:ext cx="37947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7673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Azure Database for PostgreSQL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6048" y="40050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Version cloud gérée par Microsoft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4297680"/>
            <a:ext cx="379476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4334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Google AlloyDB / Cloud SQL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45720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Version cloud gérée par Google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est Organisée une Base de Données 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🏠  Métaphore : une BDD est comme une grande maison bien rangée — chaque élément a un rôle précis !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160520" cy="82296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</a:rPr>
              <a:t>Schéma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</a:rPr>
              <a:t>Les étages de la maison : regroupent les tables par thème (ventes, RH...)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481328"/>
            <a:ext cx="4160520" cy="822960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813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23560" y="1554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23560" y="18470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</a:rPr>
              <a:t>Les armoires : chaque table range un type d'information (élèves, notes...)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4160520" cy="82296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3957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Colonne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27614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</a:rPr>
              <a:t>Les tiroirs étiquetés : nom, classe, note — chaque colonne a un type précis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395728"/>
            <a:ext cx="4160520" cy="82296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3957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</a:rPr>
              <a:t>Index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23560" y="27614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</a:rPr>
              <a:t>L'index d'un livre : trouver une info sans parcourir toutes les pages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10128"/>
            <a:ext cx="4160520" cy="822960"/>
          </a:xfrm>
          <a:prstGeom prst="rect">
            <a:avLst/>
          </a:prstGeom>
          <a:solidFill>
            <a:srgbClr val="FFEDD5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3101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8872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</a:rPr>
              <a:t>Procédure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8720" y="3675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</a:rPr>
              <a:t>Le robot ménager : une suite d'actions enregistrée, exécutable à la demande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310128"/>
            <a:ext cx="4160520" cy="82296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3101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62356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B2777"/>
                </a:solidFill>
              </a:rPr>
              <a:t>Extension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23560" y="3675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</a:rPr>
              <a:t>Les modules en plus : ajoutent des super-pouvoirs (cartes, recherche...)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 Pourquoi cette structure ? Sans organisation, retrouver une donnée = chercher une chaussette dans une maison en désordre. Avec la structure : tout est rangé, rapide et fiable 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Sous le Capot ? La BDD Côté Système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🍳  Métaphore : la BDD fonctionne comme une cuisine de restaurant — chaque zone a son rôle !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55448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💽  Le disque (file system)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= Le garde-manger 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Les données sont stockées dans des fichiers sur le disque : durables, mais lents d'accès. Tout y survit même quand on éteint le serveur.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4069080" cy="155448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6002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2777"/>
                </a:solidFill>
              </a:rPr>
              <a:t>⚡  La mémoire (RAM)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= Le plan de travail du cuisinier 🔪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Ultra-rapide mais limitée : on y garde les données « chaudes » utilisées souvent. Tout disparaît si on éteint 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84124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291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🔄  Le va-et-vient permanent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Quand on demande une donnée : le moteur regarde d'abord en mémoire (le plan de travail). Si elle n'y est pas, il va la chercher sur le disque (le garde-manger) — plus lent ! Le travail du DBA : régler la mémoire pour que les données les plus demandées soient toujours « à portée de main ».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💡  RAM = 1000× plus rapide que le disque, mais 10× plus chère — tout l'art est de bien doser les deux 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Parler avec les Données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🗣️  Comment interagir avec une BDD ? On lui parle dans son langage : SQL (Structured Query Language).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0876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💡  Analogie : SQL est comme une question posée à un bibliothécaire : « Donne-moi tous les livres de science-fiction publiés après 2020.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2633472"/>
            <a:ext cx="960120" cy="3566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633472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Lire des données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« Montre-moi les notes d'Alice 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3200400"/>
            <a:ext cx="960120" cy="3566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200400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1638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Ajouter des données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« Ajoute le nouvel élève Karim 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767328"/>
            <a:ext cx="960120" cy="3566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67328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Modifier des données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39684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« Corrige la note de Bob : 15 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6110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4334256"/>
            <a:ext cx="960120" cy="356616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334256"/>
            <a:ext cx="960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4297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Supprimer des données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45354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« Retire l'élève parti du lycée »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508760"/>
            <a:ext cx="4069080" cy="1828800"/>
          </a:xfrm>
          <a:prstGeom prst="rect">
            <a:avLst/>
          </a:prstGeom>
          <a:solidFill>
            <a:srgbClr val="1E1B4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508760"/>
            <a:ext cx="406908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Exemple de requête SQL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192024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nom, note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eleves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classe = '2nde A'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note DESC;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069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18888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Résultat ⬇️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40480"/>
            <a:ext cx="379476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            note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4096512"/>
            <a:ext cx="3794760" cy="256032"/>
          </a:xfrm>
          <a:prstGeom prst="rect">
            <a:avLst/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Clara          18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4352544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         17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À quoi sert une base de données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Envoyer des messages sur les réseaux sociaux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Stocker, organiser et retrouver des informations rapidement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Créer des présentations PowerPoint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Réparer des ordinateurs en panne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DBA — Gardien des Données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737360" cy="1737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🛡️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331720" y="88696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Database Administrator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31720" y="13533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Expert technique dont la mission est de s'assurer que les bases de données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fonctionnent, sont sécurisées, performantes et disponibles 24h/24.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993392" cy="160020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517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23697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Technique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Installe et configure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les systèmes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606040"/>
            <a:ext cx="1993392" cy="160020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6517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23697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Sécurité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35661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Protège les données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des entreprises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1993392" cy="160020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6517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323697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Optimise la rapidité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des requêtes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2606040"/>
            <a:ext cx="1993392" cy="160020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6517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323697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Disponibilité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35661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Évite les pannes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et pertes de données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343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🎯  Le DBA travaille avec des développeurs, des sysadmins, des équipes métier et la direction.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 pour Devenir DBA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🧠  Compétences techniques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3716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SQL et les moteurs de BDD (PostgreSQL, Oracle...)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" y="192024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Linux : la plupart des serveurs tournent dessus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" y="24688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Scripting : Bash, Python pour automatiser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" y="301752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01752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Le Cloud : AWS, Azure, GCP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" y="35661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Réseaux et sécurité informatique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06908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💖  Qualités humaines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4069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64024" y="13716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37160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Rigueur : une erreur peut coûter très cher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920240"/>
            <a:ext cx="4069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64024" y="192024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19202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Esprit logique : diagnostiquer les pannes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468880"/>
            <a:ext cx="4069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64024" y="24688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49240" y="246888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Sang-froid : gérer les incidents sans paniquer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069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64024" y="301752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0175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Communication : expliquer aux équipes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566160"/>
            <a:ext cx="4069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64024" y="35661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356616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Curiosité : la techno évolue sans cesse 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🎓  Parcours type : Bac scientifique ou techno → BTS/BUT/Licence informatique → spécialisation BDD. Et beaucoup de pratique 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Quel est le rôle principal d'un DBA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Concevoir des interfaces et applications mobiles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>
              <a:alpha val="70000"/>
            </a:srgbClr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Réparer le matériel informatique (ordinateurs, câbles)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Gérer, sécuriser et optimiser les bases de données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Gérer les réseaux Wi-Fi de l'entreprise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Missions du DBA — Partie 1 /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78308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914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🏗️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463040" y="10698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</a:rPr>
              <a:t>Installation &amp; 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Choisir et installer le SGBD (Oracle, PostgreSQL...)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Configurer mémoire, disques, paramètres réseau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Créer les schémas, tablespaces et utilisateurs initiaux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3865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Valider l'installation via des tests de connexion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26080"/>
            <a:ext cx="914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💾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463040" y="30358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Sauvegarde &amp; Restauration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Planifier des sauvegardes auto (nuit, hebdo, mensuel)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767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Tester les restaurations régulièrement (oui, tester !)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0599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Surveiller l'espace disque consommé par les backups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43525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Documenter les procédures de récupération d'urgence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Missions du DBA — Partie 2 /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78308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914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463040" y="10698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2777"/>
                </a:solidFill>
              </a:rPr>
              <a:t>Gestion des Accès &amp; Sécurité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Créer des comptes utilisateurs avec les bons droits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Appliquer le principe du moindre privilège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Auditer les connexions suspectes dans les logs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3865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Révoquer immédiatement les accès des employés qui partent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EDD5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26080"/>
            <a:ext cx="914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🚀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463040" y="30358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Optimisation des Performances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Identifier les requêtes SQL lentes avec les plans d'exécution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767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Créer des index pour accélérer les recherches fréquentes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0599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Surveiller l'utilisation CPU, RAM, I/O disque en temps réel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43525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Proposer des corrections au code SQL si nécessaire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Missions du DBA — Partie 3 /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783080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914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463040" y="10698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</a:rPr>
              <a:t>Supervision &amp; Alertes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Configurer des alertes : espace disque &lt; 10%, CPU &gt; 90%...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Consulter les logs d'erreurs chaque matin (le café du DBA !)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Créer des tableaux de bord de monitoring (Grafana, OEM...)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3865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Répondre aux incidents 24h/24 si la BDD tombe en panne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26080"/>
            <a:ext cx="914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463040" y="30358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Migration &amp; Mise à Jour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Auditer l'existant : taille, dépendances, contraintes techniques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767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Planifier la migration pour éviter toute interruption de 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0599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Tester la migration sur un environnement de recette en premier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43525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Basculer en production avec un plan de rollback en cas d'échec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Si la base de données est lente, que fait en premier le DBA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Il redémarre le serveur et attend que ça passe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Il analyse les requêtes SQL lentes et crée des index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Il appelle le service commercial pour un nouveau serveur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Il supprime les données inutiles au hasard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6D28D9">
              <a:alpha val="32000"/>
            </a:srgbClr>
          </a:solidFill>
          <a:ln w="12700">
            <a:solidFill>
              <a:srgbClr val="6D28D9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Automatiser la Gestion des BDD 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B2777"/>
                </a:solidFill>
              </a:rPr>
              <a:t>×100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Hier : 5 BDD à gérer.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Aujourd'hui : des centaines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960120"/>
            <a:ext cx="265176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24/7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29000" y="1828800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Les applications ne s'arrêtent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jamais — les BDD non plus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960120"/>
            <a:ext cx="265176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7E8F9"/>
                </a:solidFill>
              </a:rPr>
              <a:t>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91072" y="1828800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Erreur humaine tolérée 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une faute = panne ou perte de données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803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⚠️  Impossible de gérer des centaines de BDD à la main ! Le DBA moderne doit automatiser pour suivre le rythme — chaque tâche manuelle répétée est une perte de temps et un risque d'erreur.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B5FD"/>
                </a:solidFill>
              </a:rPr>
              <a:t>Mais d'où vient ce changement d'échelle ? Remontons le temps... ⏪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Vagues Informatiques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À chaque vague, de nouveaux défis — le DBA doit évoluer 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274320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554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1960s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Mainframe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47088" y="2240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554480" cy="2743200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97280"/>
            <a:ext cx="15544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1980s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4813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11680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PC &amp; Réseau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2240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097280"/>
            <a:ext cx="1554480" cy="2743200"/>
          </a:xfrm>
          <a:prstGeom prst="rect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97280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2000s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4813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749040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Virtualisation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21808" y="2240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097280"/>
            <a:ext cx="1554480" cy="2743200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097280"/>
            <a:ext cx="155448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14813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486400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2240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23760" y="1097280"/>
            <a:ext cx="1554480" cy="2743200"/>
          </a:xfrm>
          <a:prstGeom prst="rect">
            <a:avLst/>
          </a:prstGeom>
          <a:solidFill>
            <a:srgbClr val="DB2777">
              <a:alpha val="8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097280"/>
            <a:ext cx="1554480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2020+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14813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223760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Automatisation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45920" y="3977640"/>
            <a:ext cx="585216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645920" y="3977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Aujourd'hui : automatiser = survie ! Un DBA gère des centaines de BDD simultanément.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6451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💬  Question : C'est quoi concrètement le Cloud 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Cloud : Louer au Lieu d'Acheter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💡  Analogie : Le Cloud c'est comme Netflix — tu utilises des ressources sans posséder l'infrastructure !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❌  AVANT — Serveurs physiques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554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✅  APRÈS — Cloud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4023360" cy="420624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47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💸 Acheter des serveurs très chers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4023360" cy="420624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048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🏢 Les stocker dans vos locaux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62072"/>
            <a:ext cx="4023360" cy="420624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62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👩‍💻 Embaucher personnel 24h/24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4023360" cy="420624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192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😰 Payer même si inutilisé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947672"/>
            <a:ext cx="4023360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947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🌐 Louer les ressources à la demande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404872"/>
            <a:ext cx="4023360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4048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☁️ Tout chez AWS, Azure, Google...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62072"/>
            <a:ext cx="4023360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862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🔧 Le fournisseur gère la maintenance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19272"/>
            <a:ext cx="4023360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3192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💰 On paie uniquement ce qu'on utilise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04488"/>
            <a:ext cx="8229600" cy="566928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0448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</a:rPr>
              <a:t>☁️  AWS RDS, Azure SQL, Google Cloud SQL : des services Cloud spécialement conçus pour les bases de données DBA.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Quel est l'avantage principal du Cloud pour une entreprise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Les données ne peuvent jamais être perdues dans le Cloud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On paie uniquement les ressources qu'on utilise, à la demande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Internet n'est pas nécessaire pour accéder au Cloud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Les serveurs Cloud sont toujours dans le même bâtiment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Tâches Répétitives du DBA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Ces tâches reviennent chaque jour, chaque semaine, sur des dizaines de serveurs... Parfaites pour l'automatisation 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Mission DBA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Tâche répétitive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Fréquence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438912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70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💾  Sauvegarde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184708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Lancer les backups de toutes les BDD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8470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Chaque nuit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18470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50+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438912"/>
          </a:xfrm>
          <a:prstGeom prst="rect">
            <a:avLst/>
          </a:prstGeom>
          <a:solidFill>
            <a:srgbClr val="CFF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225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</a:rPr>
              <a:t>📊  Supervision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31720" y="232257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Vérifier l'espace disque sur les serveurs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3225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Chaque heure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232257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100+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798064"/>
            <a:ext cx="8412480" cy="438912"/>
          </a:xfrm>
          <a:prstGeom prst="rect">
            <a:avLst/>
          </a:prstGeom>
          <a:solidFill>
            <a:srgbClr val="FCE7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980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2777"/>
                </a:solidFill>
              </a:rPr>
              <a:t>🔐  Accès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279806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Créer le même profil droits : nouvel employé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7980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Chaque semaine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27980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20+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8412480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73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🏗️  Installation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31720" y="32735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Déployer une nouvelle BDD (même config)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327355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Par projet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32735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10+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8412480" cy="438912"/>
          </a:xfrm>
          <a:prstGeom prst="rect">
            <a:avLst/>
          </a:prstGeom>
          <a:solidFill>
            <a:srgbClr val="FFEDD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</a:rPr>
              <a:t>🚀  Optimisation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31720" y="37490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Analyser les rapports de performance SQL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37490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Chaque matin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37490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30+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24528"/>
            <a:ext cx="8412480" cy="438912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24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🔄  Migration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331720" y="42245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Appliquer les patches de sécurité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Mensuelle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4224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200+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Laquelle de ces tâches DBA est la plus adaptée à l'automatisation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Décider quelle base de données acheter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Lancer une sauvegarde chaque nuit à 2h du matin sur 50 serveurs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Discuter de la stratégie avec la direction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Choisir le nom d'une nouvelle base de données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: l'Ancienne Méthode (Scripts)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Avant les outils modernes, les DBA écrivaient des scripts Shell (Bash) ou Python pour automatiser leurs tâches.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663440" cy="2514600"/>
          </a:xfrm>
          <a:prstGeom prst="rect">
            <a:avLst/>
          </a:prstGeom>
          <a:solidFill>
            <a:srgbClr val="1E1B4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466344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backup_db.sh — Script de sauvegarde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Sauvegarde PostgreSQL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DATE=$(date +%Y%m%d)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DB_NAME="production"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pg_dump $DB_NAME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/backup/db_$DATE.sql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"Backup terminé : $DATE"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0" y="1444752"/>
            <a:ext cx="3520440" cy="10972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21808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✅  Avantages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21808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▸ Simple à écrire rapidement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▸ Flexible, personnalisable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▸ Gratuit, aucun outil externe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2670048"/>
            <a:ext cx="3520440" cy="12984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❌  Inconvénients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3017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▸ Fragile : casse si l'environnement 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▸ Pas idempotent (exécuter 2× = problème)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▸ Un script = un seul serveur à la fois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▸ Difficile à maintenir avec le temps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💡  Idempotent =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406908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Si tu exécutes le script 1 fois ou 10 fois, le résultat est le même. Un script Bash dit "créer", mais si c'est déjà créé → ERREUR !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Scripts, en Images 🎭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868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7320" y="9875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</a:rPr>
              <a:t>Le script = une recette de cuisine écrite à la main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417320" y="12984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Elle marche très bien... dans TA cuisine. Mais chez quelqu'un d'autre (four différent, ingrédients manquants), la recette échoue sans prévenir.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45309"/>
                </a:solidFill>
              </a:rPr>
              <a:t>➜  Un script dépend de son environnement : changement de serveur = risque de panne.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207008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40280"/>
            <a:ext cx="868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17320" y="23134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B2777"/>
                </a:solidFill>
              </a:rPr>
              <a:t>Le script = un robot qui suit les ordres aveuglément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Tu lui dis « ajoute du sel » : il en ajoute, même si le plat est déjà salé ! Il ne vérifie jamais l'état avant d'agir.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311810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B2777"/>
                </a:solidFill>
              </a:rPr>
              <a:t>➜  Exécuter 2 fois un script = doublons, erreurs... C'est le problème d'idempotence.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1207008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66160"/>
            <a:ext cx="868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✉️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417320" y="3639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Le script = envoyer 100 lettres une par une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Pour 100 serveurs, il faut se connecter à chacun et lancer le script à la main, l'un après l'autre. Long et épuisant !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17320" y="44439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490"/>
                </a:solidFill>
              </a:rPr>
              <a:t>➜  Pas de gestion de parc : le script ne connaît qu'une machine à la fois.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D28D9"/>
                </a:solidFill>
              </a:rPr>
              <a:t>Et si un outil savait vérifier avant d'agir, et parler à 1000 serveurs en même temps ? 🤔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Quel est le principal problème d'un script Bash pour automatiser sur 100 serveurs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Il est trop lent à écrire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Il ne s'exécute qu'un serveur à la fois et peut casser si l'environnement 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Il coûte très cher en licence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Il ne fonctionne que la nuit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Automatiser en Décrivant l'État Voulu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Ansible est un outil open-source qui automatise la configuration de serveurs en décrivant l'état qu'on veut obtenir.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434840" cy="2395728"/>
          </a:xfrm>
          <a:prstGeom prst="rect">
            <a:avLst/>
          </a:prstGeom>
          <a:solidFill>
            <a:srgbClr val="1E1B4B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43484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install_postgres.yml — Playbook Ansible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865376"/>
            <a:ext cx="422452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Installer PostgreSQL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all  # 100 serveurs d'un coup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Installer le paquet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postgresql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present  # doit être installé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Démarrer le service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postgresql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started  # doit être démarré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029200" y="1508760"/>
            <a:ext cx="1874520" cy="1078992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544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Idempotent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2768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Exécutable 100 fois : même résultat. Aucune surprise !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59168" y="1508760"/>
            <a:ext cx="1874520" cy="1078992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59168" y="15544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59168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Multi-serveurs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59168" y="22768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 playbook configure 1 ou 1000 serveurs simultanément.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715768"/>
            <a:ext cx="1874520" cy="1078992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27614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3218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Lisible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4838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YAML = langage humain. L'équipe entière peut comprendre.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59168" y="2715768"/>
            <a:ext cx="1874520" cy="1078992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59168" y="27614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59168" y="3218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Sans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59168" y="34838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Rien à installer sur les serveurs cibles. Juste SSH.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841248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041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Scripts Bash 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041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"Exécute ces commandes"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07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Ansible 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407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"PostgreSQL doit être installé et démarré"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3159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→ Ansible vérifie et corrige si nécessaire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vs Script Shell — Cas Concrets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10312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 d'usage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868680"/>
            <a:ext cx="310896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24328" y="868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📜  Avec un script Shell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868680"/>
            <a:ext cx="3108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9008" y="868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Avec Ansible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103120" cy="98755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0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💾  Sauvegarder 50 BDD chaque nuit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3108960" cy="98755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371600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1 script par serveur, à copier et adapter 50 fois. Si un serveur change de mot de passe → le script casse en silence.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0" y="1371600"/>
            <a:ext cx="3108960" cy="98755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1371600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</a:rPr>
              <a:t>1 playbook + 1 inventaire de 50 serveurs. Exécution parallèle, rapport clair : 48 OK, 2 en échec.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2103120" cy="98755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🏗️  Installer PostgreSQL sur 20 serveurs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2450592"/>
            <a:ext cx="3108960" cy="98755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2450592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Se connecter à chaque serveur un par un, lancer le script, vérifier à la main. Relancer = risque d'erreur « déjà installé ».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450592"/>
            <a:ext cx="3108960" cy="98755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2450592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</a:rPr>
              <a:t>1 commande pour les 20 serveurs. Relançable à volonté : Ansible vérifie l'état et ne refait que ce qui manque.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29584"/>
            <a:ext cx="2103120" cy="98755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29584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🔐  Appliquer un patch de sécurité urgent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14600" y="3529584"/>
            <a:ext cx="3108960" cy="98755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3529584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Plusieurs heures de connexions manuelles. Aucune trace de qui a patché quoi, ni quand.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3529584"/>
            <a:ext cx="3108960" cy="98755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3529584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</a:rPr>
              <a:t>Patch déployé sur tout le parc en quelques minutes, avec un log complet et auditable de chaque action.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</a:rPr>
              <a:t>🏆  Bilan : moins d'erreurs, plus de vitesse, et tout est tracé — c'est ça, l'automatisation moderne !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Quelle est la grande différence entre Ansible et un script Bash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Ansible est payant, Bash est gratuit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Ansible décrit l'état voulu (idempotent) ; Bash exécute des commandes dans l'ordre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Ansible ne fonctionne que sur Windows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Bash peut gérer plusieurs serveurs, Ansible non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— Produire à Grande Échelle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8229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 Analogie : une usine Toyota produit la même voiture, fiable, 1000 fois par jour. L'industrialisation, c'est ça 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160520" cy="1207008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536192"/>
            <a:ext cx="777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Standardisation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993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Tous les serveurs suivent les mêmes règles : mêmes configs, mêmes versions, mêmes noms.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536192"/>
            <a:ext cx="4160520" cy="1207008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1536192"/>
            <a:ext cx="777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15000" y="16276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Reproductibilité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1993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Dev, Test, Production = environnements identiques. Fini le "ça marche chez moi !"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4160520" cy="1207008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889504"/>
            <a:ext cx="777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9809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Infrastructure as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34670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Les configs sont du code : versionnées dans Git, révisées, auditables.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889504"/>
            <a:ext cx="4160520" cy="1207008"/>
          </a:xfrm>
          <a:prstGeom prst="rect">
            <a:avLst/>
          </a:prstGeom>
          <a:solidFill>
            <a:srgbClr val="FFEDD5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73752" y="2889504"/>
            <a:ext cx="777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15000" y="29809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Déploiement Continu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334670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Une nouvelle BDD est toujours déployée de la même façon, en 5 minutes, pas en 5 jours.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8412480" cy="53035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3891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🎯  Automatisation + Industrialisation = faire en 1 semaine ce qui prenait 3 mois à la main !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L'Industrialisation en Détail — 1 /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783080"/>
          </a:xfrm>
          <a:prstGeom prst="rect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069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</a:rPr>
              <a:t>Standardisation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Définir UNE seule bonne façon de faire, appliquée partout : mêmes versions de PostgreSQL, mêmes conventions de nommage, mêmes paramètres de sécurité.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947672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Exemple : toutes les BDD s'appellent « projet_environnement » (ex : vente_prod, vente_test) — n'importe quel DBA s'y retrouve immédiatement.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✅  Bénéfice : moins de surprises, dépannage plus rapide, nouveaux arrivants opérationnels en quelques jours.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30358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Reproductibilité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347472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Pouvoir recréer à l'identique un environnement complet : si la prod et le test sont identiques, ce qui marche en test marchera en prod.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913632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Exemple : un bug en production ? On recrée l'environnement exact en 10 minutes pour le reproduire et le corriger sans toucher à la prod.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34340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 Bénéfice : fini le « ça marche chez moi ! » — les tests deviennent fiables à 100 %.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L'Industrialisation en Détail — 2 /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783080"/>
          </a:xfrm>
          <a:prstGeom prst="rect">
            <a:avLst/>
          </a:prstGeom>
          <a:solidFill>
            <a:srgbClr val="CFFAFE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069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</a:rPr>
              <a:t>Infrastructure as Code (IaC)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Toute la configuration est écrite sous forme de code (fichiers texte), stockée dans Git comme du code applicatif : versionnée, relue, validée.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947672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Exemple : pour savoir qui a changé la taille mémoire d'une BDD et quand → il suffit de regarder l'historique Git, comme un journal de bord.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</a:rPr>
              <a:t>✅  Bénéfice : traçabilité totale, retour arrière possible, et la doc est toujours à jour (c'est le code !).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EDD5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30358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Déploiement Continu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347472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</a:rPr>
              <a:t>Chaque changement validé est déployé automatiquement par un pipeline : tests automatiques → validation → mise en production, sans intervention manuelle.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913632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Exemple : le DBA modifie un paramètre dans Git à 14h00 → à 14h10, les 200 serveurs sont à jour, testés et vérifiés automatiquement.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34340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</a:rPr>
              <a:t>✅  Bénéfice : des déploiements rapides, fréquents et sans stress — même un vendredi !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❓ 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Qu'est-ce que l'industrialisation en informatique 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Construire des usines physiques pour fabriquer des serveurs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1188720"/>
          </a:xfrm>
          <a:prstGeom prst="rect">
            <a:avLst/>
          </a:prstGeom>
          <a:solidFill>
            <a:srgbClr val="065F46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7099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099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⭐  Standardiser et reproduire les processus à grande échelle, comme une usine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188720"/>
          </a:xfrm>
          <a:prstGeom prst="rect">
            <a:avLst/>
          </a:prstGeom>
          <a:solidFill>
            <a:srgbClr val="92400E">
              <a:alpha val="70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Supprimer tous les scripts et travailler uniquement à la main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188720"/>
          </a:xfrm>
          <a:prstGeom prst="rect">
            <a:avLst/>
          </a:prstGeom>
          <a:solidFill>
            <a:srgbClr val="6B21A8">
              <a:alpha val="70000"/>
            </a:srgbClr>
          </a:solidFill>
          <a:ln w="127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17296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72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Utiliser uniquement des logiciels gratuits et open-source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6A8F"/>
                </a:solidFill>
              </a:rPr>
              <a:t>Réfléchis avant de regarder la réponse ⭐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6D28D9">
              <a:alpha val="28000"/>
            </a:srgbClr>
          </a:solidFill>
          <a:ln w="12700">
            <a:solidFill>
              <a:srgbClr val="6D28D9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DB2777">
              <a:alpha val="28000"/>
            </a:srgbClr>
          </a:solidFill>
          <a:ln w="12700">
            <a:solidFill>
              <a:srgbClr val="DB2777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 aujourd'hui 🎓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58521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84124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Une donnée = une information numérique ; une BDD = le conteneur organisé qui la stocke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8521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Le DBA gère, sécurise et optimise les BDD (installation, backup, accès, perf, migration)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0" cy="58521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17627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Le Cloud permet de louer des ressources à la demande — le DBA doit s'y adapter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8229600" cy="58521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4378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84378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Scripts Bash/Python = 1er pas vers l'automatisation, mais fragiles et non-idempotents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8229600" cy="58521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1296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51129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Ansible automatise la config de 1000 serveurs en décrivant l'état voulu (idempotent)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8229600" cy="585216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7880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417880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Industrialisation = standardiser + reproduire à grande échelle → des semaines gagnées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Merci — Des questions ? 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Métier de DBA</dc:title>
  <dc:subject>PptxGenJS Presentation</dc:subject>
  <dc:creator>PptxGenJS</dc:creator>
  <cp:lastModifiedBy>PptxGenJS</cp:lastModifiedBy>
  <cp:revision>1</cp:revision>
  <dcterms:created xsi:type="dcterms:W3CDTF">2026-06-11T10:08:41Z</dcterms:created>
  <dcterms:modified xsi:type="dcterms:W3CDTF">2026-06-11T10:08:41Z</dcterms:modified>
</cp:coreProperties>
</file>